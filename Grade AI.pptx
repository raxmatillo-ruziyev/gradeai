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7" r:id="rId2"/>
    <p:sldId id="258" r:id="rId3"/>
    <p:sldId id="259" r:id="rId4"/>
    <p:sldId id="278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AD42F-5CB8-4414-A501-9835445F6DAC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61937-F8C8-4BDD-A769-8B5D7DCEE7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1080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AD42F-5CB8-4414-A501-9835445F6DAC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61937-F8C8-4BDD-A769-8B5D7DCEE7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5562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AD42F-5CB8-4414-A501-9835445F6DAC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61937-F8C8-4BDD-A769-8B5D7DCEE7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1931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AD42F-5CB8-4414-A501-9835445F6DAC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61937-F8C8-4BDD-A769-8B5D7DCEE7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8285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AD42F-5CB8-4414-A501-9835445F6DAC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61937-F8C8-4BDD-A769-8B5D7DCEE7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1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AD42F-5CB8-4414-A501-9835445F6DAC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61937-F8C8-4BDD-A769-8B5D7DCEE7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5127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AD42F-5CB8-4414-A501-9835445F6DAC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61937-F8C8-4BDD-A769-8B5D7DCEE7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6002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AD42F-5CB8-4414-A501-9835445F6DAC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61937-F8C8-4BDD-A769-8B5D7DCEE7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1792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AD42F-5CB8-4414-A501-9835445F6DAC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61937-F8C8-4BDD-A769-8B5D7DCEE7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0443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AD42F-5CB8-4414-A501-9835445F6DAC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61937-F8C8-4BDD-A769-8B5D7DCEE7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4811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AD42F-5CB8-4414-A501-9835445F6DAC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61937-F8C8-4BDD-A769-8B5D7DCEE7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27613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AD42F-5CB8-4414-A501-9835445F6DAC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61937-F8C8-4BDD-A769-8B5D7DCEE73C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549014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AD42F-5CB8-4414-A501-9835445F6DAC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61937-F8C8-4BDD-A769-8B5D7DCEE7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17473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AD42F-5CB8-4414-A501-9835445F6DAC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61937-F8C8-4BDD-A769-8B5D7DCEE7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60796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AD42F-5CB8-4414-A501-9835445F6DAC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61937-F8C8-4BDD-A769-8B5D7DCEE7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11206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AD42F-5CB8-4414-A501-9835445F6DAC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61937-F8C8-4BDD-A769-8B5D7DCEE7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39163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AD42F-5CB8-4414-A501-9835445F6DAC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61937-F8C8-4BDD-A769-8B5D7DCEE7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17300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AD42F-5CB8-4414-A501-9835445F6DAC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61937-F8C8-4BDD-A769-8B5D7DCEE7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9121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E0BAD42F-5CB8-4414-A501-9835445F6DAC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161937-F8C8-4BDD-A769-8B5D7DCEE7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33524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lgerian" panose="04020705040A02060702" pitchFamily="82" charset="0"/>
              </a:rPr>
              <a:t>Grade AI: </a:t>
            </a:r>
            <a:r>
              <a:rPr lang="en-US" dirty="0" err="1" smtClean="0">
                <a:latin typeface="Algerian" panose="04020705040A02060702" pitchFamily="82" charset="0"/>
              </a:rPr>
              <a:t>Talabalar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yakuniy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bahosini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bashorat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qilish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tizimi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Algerian" panose="04020705040A02060702" pitchFamily="82" charset="0"/>
              </a:rPr>
              <a:t>• </a:t>
            </a:r>
            <a:r>
              <a:rPr lang="en-US" dirty="0" err="1" smtClean="0">
                <a:latin typeface="Algerian" panose="04020705040A02060702" pitchFamily="82" charset="0"/>
              </a:rPr>
              <a:t>Sun'iy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intellekt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va</a:t>
            </a:r>
            <a:r>
              <a:rPr lang="en-US" dirty="0" smtClean="0">
                <a:latin typeface="Algerian" panose="04020705040A02060702" pitchFamily="82" charset="0"/>
              </a:rPr>
              <a:t> Data Science </a:t>
            </a:r>
            <a:r>
              <a:rPr lang="en-US" dirty="0" err="1" smtClean="0">
                <a:latin typeface="Algerian" panose="04020705040A02060702" pitchFamily="82" charset="0"/>
              </a:rPr>
              <a:t>metodologiyasi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asosida</a:t>
            </a:r>
            <a:r>
              <a:rPr lang="en-US" dirty="0" smtClean="0">
                <a:latin typeface="Algerian" panose="04020705040A02060702" pitchFamily="82" charset="0"/>
              </a:rPr>
              <a:t>.</a:t>
            </a:r>
          </a:p>
          <a:p>
            <a:r>
              <a:rPr lang="en-US" dirty="0" smtClean="0">
                <a:latin typeface="Algerian" panose="04020705040A02060702" pitchFamily="82" charset="0"/>
              </a:rPr>
              <a:t>• </a:t>
            </a:r>
            <a:r>
              <a:rPr lang="en-US" dirty="0" err="1" smtClean="0">
                <a:latin typeface="Algerian" panose="04020705040A02060702" pitchFamily="82" charset="0"/>
              </a:rPr>
              <a:t>Talabaning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fanlardagi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ko'rsatkichlariga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qarab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yakuniy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bahoni</a:t>
            </a:r>
            <a:r>
              <a:rPr lang="en-US" dirty="0" smtClean="0">
                <a:latin typeface="Algerian" panose="04020705040A02060702" pitchFamily="82" charset="0"/>
              </a:rPr>
              <a:t> (Final Score) </a:t>
            </a:r>
            <a:r>
              <a:rPr lang="en-US" dirty="0" err="1" smtClean="0">
                <a:latin typeface="Algerian" panose="04020705040A02060702" pitchFamily="82" charset="0"/>
              </a:rPr>
              <a:t>aniqlash</a:t>
            </a:r>
            <a:r>
              <a:rPr lang="en-US" dirty="0" smtClean="0">
                <a:latin typeface="Algerian" panose="04020705040A02060702" pitchFamily="82" charset="0"/>
              </a:rPr>
              <a:t>.</a:t>
            </a:r>
          </a:p>
          <a:p>
            <a:r>
              <a:rPr lang="en-US" dirty="0" smtClean="0">
                <a:latin typeface="Algerian" panose="04020705040A02060702" pitchFamily="82" charset="0"/>
              </a:rPr>
              <a:t>• </a:t>
            </a:r>
            <a:r>
              <a:rPr lang="en-US" dirty="0" err="1" smtClean="0">
                <a:latin typeface="Algerian" panose="04020705040A02060702" pitchFamily="82" charset="0"/>
              </a:rPr>
              <a:t>Tayyorladi</a:t>
            </a:r>
            <a:r>
              <a:rPr lang="en-US" dirty="0" smtClean="0">
                <a:latin typeface="Algerian" panose="04020705040A02060702" pitchFamily="82" charset="0"/>
              </a:rPr>
              <a:t>: </a:t>
            </a:r>
            <a:r>
              <a:rPr lang="en-US" dirty="0" err="1" smtClean="0">
                <a:latin typeface="Algerian" panose="04020705040A02060702" pitchFamily="82" charset="0"/>
              </a:rPr>
              <a:t>Raxmatillo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Ruziyev</a:t>
            </a:r>
            <a:r>
              <a:rPr lang="en-US" dirty="0" smtClean="0">
                <a:latin typeface="Algerian" panose="04020705040A02060702" pitchFamily="82" charset="0"/>
              </a:rPr>
              <a:t>  | 2026</a:t>
            </a:r>
          </a:p>
          <a:p>
            <a:endParaRPr lang="en-US" dirty="0">
              <a:latin typeface="Algerian" panose="04020705040A02060702" pitchFamily="82" charset="0"/>
            </a:endParaRPr>
          </a:p>
          <a:p>
            <a:r>
              <a:rPr lang="en-US" dirty="0" err="1" smtClean="0">
                <a:latin typeface="Algerian" panose="04020705040A02060702" pitchFamily="82" charset="0"/>
              </a:rPr>
              <a:t>Guruh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A’zolari</a:t>
            </a:r>
            <a:r>
              <a:rPr lang="en-US" dirty="0" smtClean="0">
                <a:latin typeface="Algerian" panose="04020705040A02060702" pitchFamily="82" charset="0"/>
              </a:rPr>
              <a:t> :</a:t>
            </a:r>
          </a:p>
          <a:p>
            <a:r>
              <a:rPr lang="en-US" dirty="0" err="1">
                <a:latin typeface="Algerian" panose="04020705040A02060702" pitchFamily="82" charset="0"/>
              </a:rPr>
              <a:t>Raxmatillo</a:t>
            </a:r>
            <a:r>
              <a:rPr lang="en-US" dirty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Ruziyev</a:t>
            </a:r>
            <a:endParaRPr lang="en-US" dirty="0" smtClean="0">
              <a:latin typeface="Algerian" panose="04020705040A02060702" pitchFamily="82" charset="0"/>
            </a:endParaRPr>
          </a:p>
          <a:p>
            <a:r>
              <a:rPr lang="en-US" dirty="0" err="1" smtClean="0">
                <a:latin typeface="Algerian" panose="04020705040A02060702" pitchFamily="82" charset="0"/>
              </a:rPr>
              <a:t>Ziyoratquliyev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Abbosbek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</a:p>
          <a:p>
            <a:r>
              <a:rPr lang="en-US" dirty="0" err="1" smtClean="0">
                <a:latin typeface="Algerian" panose="04020705040A02060702" pitchFamily="82" charset="0"/>
              </a:rPr>
              <a:t>Abdunosirov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Asrorbek</a:t>
            </a:r>
            <a:endParaRPr lang="en-US" dirty="0" smtClean="0">
              <a:latin typeface="Algerian" panose="04020705040A02060702" pitchFamily="82" charset="0"/>
            </a:endParaRPr>
          </a:p>
          <a:p>
            <a:r>
              <a:rPr lang="en-US" dirty="0" err="1" smtClean="0">
                <a:latin typeface="Algerian" panose="04020705040A02060702" pitchFamily="82" charset="0"/>
              </a:rPr>
              <a:t>Azimjonov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Shaxzodbek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4338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smtClean="0">
                <a:latin typeface="Algerian" panose="04020705040A02060702" pitchFamily="82" charset="0"/>
              </a:rPr>
              <a:t>Loyiha konsepsiyasi va intellektual tahlil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250000"/>
              </a:lnSpc>
            </a:pPr>
            <a:r>
              <a:rPr lang="en-US" dirty="0" smtClean="0">
                <a:latin typeface="Algerian" panose="04020705040A02060702" pitchFamily="82" charset="0"/>
              </a:rPr>
              <a:t>• </a:t>
            </a:r>
            <a:r>
              <a:rPr lang="en-US" dirty="0" err="1" smtClean="0">
                <a:latin typeface="Algerian" panose="04020705040A02060702" pitchFamily="82" charset="0"/>
              </a:rPr>
              <a:t>Asosiy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maqsad</a:t>
            </a:r>
            <a:r>
              <a:rPr lang="en-US" dirty="0" smtClean="0">
                <a:latin typeface="Algerian" panose="04020705040A02060702" pitchFamily="82" charset="0"/>
              </a:rPr>
              <a:t>: </a:t>
            </a:r>
            <a:r>
              <a:rPr lang="en-US" dirty="0" err="1" smtClean="0">
                <a:latin typeface="Algerian" panose="04020705040A02060702" pitchFamily="82" charset="0"/>
              </a:rPr>
              <a:t>Akademik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natijalarni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raqamli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prognozlash</a:t>
            </a:r>
            <a:r>
              <a:rPr lang="en-US" dirty="0" smtClean="0">
                <a:latin typeface="Algerian" panose="04020705040A02060702" pitchFamily="82" charset="0"/>
              </a:rPr>
              <a:t>.</a:t>
            </a:r>
          </a:p>
          <a:p>
            <a:pPr>
              <a:lnSpc>
                <a:spcPct val="250000"/>
              </a:lnSpc>
            </a:pPr>
            <a:r>
              <a:rPr lang="en-US" dirty="0" smtClean="0">
                <a:latin typeface="Algerian" panose="04020705040A02060702" pitchFamily="82" charset="0"/>
              </a:rPr>
              <a:t>• </a:t>
            </a:r>
            <a:r>
              <a:rPr lang="en-US" dirty="0" err="1" smtClean="0">
                <a:latin typeface="Algerian" panose="04020705040A02060702" pitchFamily="82" charset="0"/>
              </a:rPr>
              <a:t>Konseptual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yondashuv</a:t>
            </a:r>
            <a:r>
              <a:rPr lang="en-US" dirty="0" smtClean="0">
                <a:latin typeface="Algerian" panose="04020705040A02060702" pitchFamily="82" charset="0"/>
              </a:rPr>
              <a:t>: </a:t>
            </a:r>
            <a:r>
              <a:rPr lang="en-US" dirty="0" err="1" smtClean="0">
                <a:latin typeface="Algerian" panose="04020705040A02060702" pitchFamily="82" charset="0"/>
              </a:rPr>
              <a:t>Har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bir</a:t>
            </a:r>
            <a:r>
              <a:rPr lang="en-US" dirty="0" smtClean="0">
                <a:latin typeface="Algerian" panose="04020705040A02060702" pitchFamily="82" charset="0"/>
              </a:rPr>
              <a:t> fanning </a:t>
            </a:r>
            <a:r>
              <a:rPr lang="en-US" dirty="0" err="1" smtClean="0">
                <a:latin typeface="Algerian" panose="04020705040A02060702" pitchFamily="82" charset="0"/>
              </a:rPr>
              <a:t>yakuniy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natijaga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ta'sirini</a:t>
            </a:r>
            <a:r>
              <a:rPr lang="en-US" dirty="0" smtClean="0">
                <a:latin typeface="Algerian" panose="04020705040A02060702" pitchFamily="82" charset="0"/>
              </a:rPr>
              <a:t> (</a:t>
            </a:r>
            <a:r>
              <a:rPr lang="en-US" dirty="0" err="1" smtClean="0">
                <a:latin typeface="Algerian" panose="04020705040A02060702" pitchFamily="82" charset="0"/>
              </a:rPr>
              <a:t>vaznini</a:t>
            </a:r>
            <a:r>
              <a:rPr lang="en-US" dirty="0" smtClean="0">
                <a:latin typeface="Algerian" panose="04020705040A02060702" pitchFamily="82" charset="0"/>
              </a:rPr>
              <a:t>) </a:t>
            </a:r>
            <a:r>
              <a:rPr lang="en-US" dirty="0" err="1" smtClean="0">
                <a:latin typeface="Algerian" panose="04020705040A02060702" pitchFamily="82" charset="0"/>
              </a:rPr>
              <a:t>matematik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baholash</a:t>
            </a:r>
            <a:r>
              <a:rPr lang="en-US" dirty="0" smtClean="0">
                <a:latin typeface="Algerian" panose="04020705040A02060702" pitchFamily="82" charset="0"/>
              </a:rPr>
              <a:t>.</a:t>
            </a:r>
          </a:p>
          <a:p>
            <a:pPr>
              <a:lnSpc>
                <a:spcPct val="250000"/>
              </a:lnSpc>
            </a:pPr>
            <a:r>
              <a:rPr lang="en-US" dirty="0" smtClean="0">
                <a:latin typeface="Algerian" panose="04020705040A02060702" pitchFamily="82" charset="0"/>
              </a:rPr>
              <a:t>• </a:t>
            </a:r>
            <a:r>
              <a:rPr lang="en-US" dirty="0" err="1" smtClean="0">
                <a:latin typeface="Algerian" panose="04020705040A02060702" pitchFamily="82" charset="0"/>
              </a:rPr>
              <a:t>Talaba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uchun</a:t>
            </a:r>
            <a:r>
              <a:rPr lang="en-US" dirty="0" smtClean="0">
                <a:latin typeface="Algerian" panose="04020705040A02060702" pitchFamily="82" charset="0"/>
              </a:rPr>
              <a:t> individual </a:t>
            </a:r>
            <a:r>
              <a:rPr lang="en-US" dirty="0" err="1" smtClean="0">
                <a:latin typeface="Algerian" panose="04020705040A02060702" pitchFamily="82" charset="0"/>
              </a:rPr>
              <a:t>bashorat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oynasini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yaratish</a:t>
            </a:r>
            <a:r>
              <a:rPr lang="en-US" dirty="0" smtClean="0">
                <a:latin typeface="Algerian" panose="04020705040A02060702" pitchFamily="82" charset="0"/>
              </a:rPr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39910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Algerian" panose="04020705040A02060702" pitchFamily="82" charset="0"/>
              </a:rPr>
              <a:t>Data-Driven yondashuv: Nega aynan regressiya modeli?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250000"/>
              </a:lnSpc>
            </a:pPr>
            <a:r>
              <a:rPr lang="en-US" dirty="0" smtClean="0">
                <a:latin typeface="Algerian" panose="04020705040A02060702" pitchFamily="82" charset="0"/>
              </a:rPr>
              <a:t>• </a:t>
            </a:r>
            <a:r>
              <a:rPr lang="en-US" dirty="0" err="1" smtClean="0">
                <a:latin typeface="Algerian" panose="04020705040A02060702" pitchFamily="82" charset="0"/>
              </a:rPr>
              <a:t>Yakuniy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baho</a:t>
            </a:r>
            <a:r>
              <a:rPr lang="en-US" dirty="0" smtClean="0">
                <a:latin typeface="Algerian" panose="04020705040A02060702" pitchFamily="82" charset="0"/>
              </a:rPr>
              <a:t> (0-100) - </a:t>
            </a:r>
            <a:r>
              <a:rPr lang="en-US" dirty="0" err="1" smtClean="0">
                <a:latin typeface="Algerian" panose="04020705040A02060702" pitchFamily="82" charset="0"/>
              </a:rPr>
              <a:t>bu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uzluksiz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sonli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ko'rsatkich</a:t>
            </a:r>
            <a:r>
              <a:rPr lang="en-US" dirty="0" smtClean="0">
                <a:latin typeface="Algerian" panose="04020705040A02060702" pitchFamily="82" charset="0"/>
              </a:rPr>
              <a:t>.</a:t>
            </a:r>
          </a:p>
          <a:p>
            <a:pPr>
              <a:lnSpc>
                <a:spcPct val="250000"/>
              </a:lnSpc>
            </a:pPr>
            <a:r>
              <a:rPr lang="en-US" dirty="0" smtClean="0">
                <a:latin typeface="Algerian" panose="04020705040A02060702" pitchFamily="82" charset="0"/>
              </a:rPr>
              <a:t>• Linear Regression </a:t>
            </a:r>
            <a:r>
              <a:rPr lang="en-US" dirty="0" err="1" smtClean="0">
                <a:latin typeface="Algerian" panose="04020705040A02060702" pitchFamily="82" charset="0"/>
              </a:rPr>
              <a:t>modeli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parametrlarning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chiziqli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bog'liqligini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yuqori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aniqlikda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tahlil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qiladi</a:t>
            </a:r>
            <a:r>
              <a:rPr lang="en-US" dirty="0" smtClean="0">
                <a:latin typeface="Algerian" panose="04020705040A02060702" pitchFamily="82" charset="0"/>
              </a:rPr>
              <a:t>.</a:t>
            </a:r>
          </a:p>
          <a:p>
            <a:pPr>
              <a:lnSpc>
                <a:spcPct val="250000"/>
              </a:lnSpc>
            </a:pPr>
            <a:r>
              <a:rPr lang="en-US" dirty="0" smtClean="0">
                <a:latin typeface="Algerian" panose="04020705040A02060702" pitchFamily="82" charset="0"/>
              </a:rPr>
              <a:t>• </a:t>
            </a:r>
            <a:r>
              <a:rPr lang="en-US" dirty="0" err="1" smtClean="0">
                <a:latin typeface="Algerian" panose="04020705040A02060702" pitchFamily="82" charset="0"/>
              </a:rPr>
              <a:t>Kichik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datasetlarda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overfit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bo'lish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xavfi</a:t>
            </a:r>
            <a:r>
              <a:rPr lang="en-US" dirty="0" smtClean="0">
                <a:latin typeface="Algerian" panose="04020705040A02060702" pitchFamily="82" charset="0"/>
              </a:rPr>
              <a:t> minimal.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27609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806572" cy="1400530"/>
          </a:xfrm>
        </p:spPr>
        <p:txBody>
          <a:bodyPr/>
          <a:lstStyle/>
          <a:p>
            <a:r>
              <a:rPr lang="en-US" smtClean="0">
                <a:latin typeface="Algerian" panose="04020705040A02060702" pitchFamily="82" charset="0"/>
              </a:rPr>
              <a:t>Fanlararo bog'liqlik va vaznlar (Feature Weights Analysis)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9328813" cy="419548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 smtClean="0">
                <a:latin typeface="Algerian" panose="04020705040A02060702" pitchFamily="82" charset="0"/>
              </a:rPr>
              <a:t>• AI </a:t>
            </a:r>
            <a:r>
              <a:rPr lang="en-US" dirty="0" err="1" smtClean="0">
                <a:latin typeface="Algerian" panose="04020705040A02060702" pitchFamily="82" charset="0"/>
              </a:rPr>
              <a:t>asoslari</a:t>
            </a:r>
            <a:r>
              <a:rPr lang="en-US" dirty="0" smtClean="0">
                <a:latin typeface="Algerian" panose="04020705040A02060702" pitchFamily="82" charset="0"/>
              </a:rPr>
              <a:t> (0.22 </a:t>
            </a:r>
            <a:r>
              <a:rPr lang="en-US" dirty="0" err="1" smtClean="0">
                <a:latin typeface="Algerian" panose="04020705040A02060702" pitchFamily="82" charset="0"/>
              </a:rPr>
              <a:t>vazn</a:t>
            </a:r>
            <a:r>
              <a:rPr lang="en-US" dirty="0" smtClean="0">
                <a:latin typeface="Algerian" panose="04020705040A02060702" pitchFamily="82" charset="0"/>
              </a:rPr>
              <a:t>) – </a:t>
            </a:r>
            <a:r>
              <a:rPr lang="en-US" dirty="0" err="1" smtClean="0">
                <a:latin typeface="Algerian" panose="04020705040A02060702" pitchFamily="82" charset="0"/>
              </a:rPr>
              <a:t>Eng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yuqori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ta'sir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koeffitsiyenti</a:t>
            </a:r>
            <a:r>
              <a:rPr lang="en-US" dirty="0" smtClean="0">
                <a:latin typeface="Algerian" panose="04020705040A02060702" pitchFamily="82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Algerian" panose="04020705040A02060702" pitchFamily="82" charset="0"/>
              </a:rPr>
              <a:t>• </a:t>
            </a:r>
            <a:r>
              <a:rPr lang="en-US" dirty="0" err="1" smtClean="0">
                <a:latin typeface="Algerian" panose="04020705040A02060702" pitchFamily="82" charset="0"/>
              </a:rPr>
              <a:t>Differensial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tenglamalar</a:t>
            </a:r>
            <a:r>
              <a:rPr lang="en-US" dirty="0" smtClean="0">
                <a:latin typeface="Algerian" panose="04020705040A02060702" pitchFamily="82" charset="0"/>
              </a:rPr>
              <a:t> (0.20),</a:t>
            </a:r>
          </a:p>
          <a:p>
            <a:pPr>
              <a:lnSpc>
                <a:spcPct val="150000"/>
              </a:lnSpc>
            </a:pPr>
            <a:r>
              <a:rPr lang="en-US" dirty="0" err="1" smtClean="0">
                <a:latin typeface="Algerian" panose="04020705040A02060702" pitchFamily="82" charset="0"/>
              </a:rPr>
              <a:t>Kiberxavfsizlik</a:t>
            </a:r>
            <a:r>
              <a:rPr lang="en-US" dirty="0" smtClean="0">
                <a:latin typeface="Algerian" panose="04020705040A02060702" pitchFamily="82" charset="0"/>
              </a:rPr>
              <a:t> (0.20)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Kompyuter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injeneringi</a:t>
            </a:r>
            <a:r>
              <a:rPr lang="en-US" dirty="0" smtClean="0">
                <a:latin typeface="Algerian" panose="04020705040A02060702" pitchFamily="82" charset="0"/>
              </a:rPr>
              <a:t> (0.20).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Algerian" panose="04020705040A02060702" pitchFamily="82" charset="0"/>
              </a:rPr>
              <a:t>• </a:t>
            </a:r>
            <a:r>
              <a:rPr lang="en-US" dirty="0" err="1" smtClean="0">
                <a:latin typeface="Algerian" panose="04020705040A02060702" pitchFamily="82" charset="0"/>
              </a:rPr>
              <a:t>Ehtimollar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va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statistika</a:t>
            </a:r>
            <a:r>
              <a:rPr lang="en-US" dirty="0" smtClean="0">
                <a:latin typeface="Algerian" panose="04020705040A02060702" pitchFamily="82" charset="0"/>
              </a:rPr>
              <a:t> (0.18) – </a:t>
            </a:r>
            <a:r>
              <a:rPr lang="en-US" dirty="0" err="1" smtClean="0">
                <a:latin typeface="Algerian" panose="04020705040A02060702" pitchFamily="82" charset="0"/>
              </a:rPr>
              <a:t>Bazaviy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bog'liqlik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koeffitsiyenti</a:t>
            </a:r>
            <a:r>
              <a:rPr lang="en-US" dirty="0" smtClean="0">
                <a:latin typeface="Algerian" panose="04020705040A02060702" pitchFamily="82" charset="0"/>
              </a:rPr>
              <a:t>.</a:t>
            </a:r>
            <a:endParaRPr lang="ru-RU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11823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Algerian" panose="04020705040A02060702" pitchFamily="82" charset="0"/>
              </a:rPr>
              <a:t>Ma'lumotlar preprocessingi (Data Cleaning jarayoni)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250000"/>
              </a:lnSpc>
            </a:pPr>
            <a:r>
              <a:rPr lang="en-US" dirty="0" smtClean="0">
                <a:latin typeface="Algerian" panose="04020705040A02060702" pitchFamily="82" charset="0"/>
              </a:rPr>
              <a:t>• Dataset: 100+ </a:t>
            </a:r>
            <a:r>
              <a:rPr lang="en-US" dirty="0" err="1" smtClean="0">
                <a:latin typeface="Algerian" panose="04020705040A02060702" pitchFamily="82" charset="0"/>
              </a:rPr>
              <a:t>talaba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ma'lumotlari</a:t>
            </a:r>
            <a:r>
              <a:rPr lang="en-US" dirty="0" smtClean="0">
                <a:latin typeface="Algerian" panose="04020705040A02060702" pitchFamily="82" charset="0"/>
              </a:rPr>
              <a:t>.</a:t>
            </a:r>
          </a:p>
          <a:p>
            <a:pPr>
              <a:lnSpc>
                <a:spcPct val="250000"/>
              </a:lnSpc>
            </a:pPr>
            <a:r>
              <a:rPr lang="en-US" dirty="0" smtClean="0">
                <a:latin typeface="Algerian" panose="04020705040A02060702" pitchFamily="82" charset="0"/>
              </a:rPr>
              <a:t>• </a:t>
            </a:r>
            <a:r>
              <a:rPr lang="en-US" dirty="0" err="1" smtClean="0">
                <a:latin typeface="Algerian" panose="04020705040A02060702" pitchFamily="82" charset="0"/>
              </a:rPr>
              <a:t>Outlierlarni</a:t>
            </a:r>
            <a:r>
              <a:rPr lang="en-US" dirty="0" smtClean="0">
                <a:latin typeface="Algerian" panose="04020705040A02060702" pitchFamily="82" charset="0"/>
              </a:rPr>
              <a:t> (</a:t>
            </a:r>
            <a:r>
              <a:rPr lang="en-US" dirty="0" err="1" smtClean="0">
                <a:latin typeface="Algerian" panose="04020705040A02060702" pitchFamily="82" charset="0"/>
              </a:rPr>
              <a:t>chetlanishlarni</a:t>
            </a:r>
            <a:r>
              <a:rPr lang="en-US" dirty="0" smtClean="0">
                <a:latin typeface="Algerian" panose="04020705040A02060702" pitchFamily="82" charset="0"/>
              </a:rPr>
              <a:t>) </a:t>
            </a:r>
            <a:r>
              <a:rPr lang="en-US" dirty="0" err="1" smtClean="0">
                <a:latin typeface="Algerian" panose="04020705040A02060702" pitchFamily="82" charset="0"/>
              </a:rPr>
              <a:t>aniqlash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va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tozalash</a:t>
            </a:r>
            <a:r>
              <a:rPr lang="en-US" dirty="0" smtClean="0">
                <a:latin typeface="Algerian" panose="04020705040A02060702" pitchFamily="82" charset="0"/>
              </a:rPr>
              <a:t>.</a:t>
            </a:r>
          </a:p>
          <a:p>
            <a:pPr>
              <a:lnSpc>
                <a:spcPct val="250000"/>
              </a:lnSpc>
            </a:pPr>
            <a:r>
              <a:rPr lang="en-US" dirty="0" smtClean="0">
                <a:latin typeface="Algerian" panose="04020705040A02060702" pitchFamily="82" charset="0"/>
              </a:rPr>
              <a:t>• Valid </a:t>
            </a:r>
            <a:r>
              <a:rPr lang="en-US" dirty="0" err="1" smtClean="0">
                <a:latin typeface="Algerian" panose="04020705040A02060702" pitchFamily="82" charset="0"/>
              </a:rPr>
              <a:t>ma'lumotlar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asosida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bashorat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aniqligini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oshirish</a:t>
            </a:r>
            <a:r>
              <a:rPr lang="en-US" dirty="0" smtClean="0">
                <a:latin typeface="Algerian" panose="04020705040A02060702" pitchFamily="82" charset="0"/>
              </a:rPr>
              <a:t> (Cleaning Before/After).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54258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Algerian" panose="04020705040A02060702" pitchFamily="82" charset="0"/>
              </a:rPr>
              <a:t>Modelni o‘qitish: Supervised Learning strategiyasi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dirty="0" smtClean="0">
                <a:latin typeface="Algerian" panose="04020705040A02060702" pitchFamily="82" charset="0"/>
              </a:rPr>
              <a:t>• </a:t>
            </a:r>
            <a:r>
              <a:rPr lang="en-US" dirty="0" err="1" smtClean="0">
                <a:latin typeface="Algerian" panose="04020705040A02060702" pitchFamily="82" charset="0"/>
              </a:rPr>
              <a:t>Ma'lumotlarni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taqsimlash</a:t>
            </a:r>
            <a:r>
              <a:rPr lang="en-US" dirty="0" smtClean="0">
                <a:latin typeface="Algerian" panose="04020705040A02060702" pitchFamily="82" charset="0"/>
              </a:rPr>
              <a:t>: 80% Train (</a:t>
            </a:r>
            <a:r>
              <a:rPr lang="en-US" dirty="0" err="1" smtClean="0">
                <a:latin typeface="Algerian" panose="04020705040A02060702" pitchFamily="82" charset="0"/>
              </a:rPr>
              <a:t>O'qitish</a:t>
            </a:r>
            <a:r>
              <a:rPr lang="en-US" dirty="0" smtClean="0">
                <a:latin typeface="Algerian" panose="04020705040A02060702" pitchFamily="82" charset="0"/>
              </a:rPr>
              <a:t>) </a:t>
            </a:r>
            <a:r>
              <a:rPr lang="en-US" dirty="0" err="1" smtClean="0">
                <a:latin typeface="Algerian" panose="04020705040A02060702" pitchFamily="82" charset="0"/>
              </a:rPr>
              <a:t>va</a:t>
            </a:r>
            <a:r>
              <a:rPr lang="en-US" dirty="0" smtClean="0">
                <a:latin typeface="Algerian" panose="04020705040A02060702" pitchFamily="82" charset="0"/>
              </a:rPr>
              <a:t> 20% Test (</a:t>
            </a:r>
            <a:r>
              <a:rPr lang="en-US" dirty="0" err="1" smtClean="0">
                <a:latin typeface="Algerian" panose="04020705040A02060702" pitchFamily="82" charset="0"/>
              </a:rPr>
              <a:t>Nazorat</a:t>
            </a:r>
            <a:r>
              <a:rPr lang="en-US" dirty="0" smtClean="0">
                <a:latin typeface="Algerian" panose="04020705040A02060702" pitchFamily="82" charset="0"/>
              </a:rPr>
              <a:t>).</a:t>
            </a:r>
          </a:p>
          <a:p>
            <a:pPr>
              <a:lnSpc>
                <a:spcPct val="200000"/>
              </a:lnSpc>
            </a:pPr>
            <a:r>
              <a:rPr lang="en-US" dirty="0" smtClean="0">
                <a:latin typeface="Algerian" panose="04020705040A02060702" pitchFamily="82" charset="0"/>
              </a:rPr>
              <a:t>• Random state </a:t>
            </a:r>
            <a:r>
              <a:rPr lang="en-US" dirty="0" err="1" smtClean="0">
                <a:latin typeface="Algerian" panose="04020705040A02060702" pitchFamily="82" charset="0"/>
              </a:rPr>
              <a:t>fiksatsiyasi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orqali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natijalar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turg'unligini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ta'minlash</a:t>
            </a:r>
            <a:r>
              <a:rPr lang="en-US" dirty="0" smtClean="0">
                <a:latin typeface="Algerian" panose="04020705040A02060702" pitchFamily="82" charset="0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dirty="0" smtClean="0">
                <a:latin typeface="Algerian" panose="04020705040A02060702" pitchFamily="82" charset="0"/>
              </a:rPr>
              <a:t>• </a:t>
            </a:r>
            <a:r>
              <a:rPr lang="en-US" dirty="0" err="1" smtClean="0">
                <a:latin typeface="Algerian" panose="04020705040A02060702" pitchFamily="82" charset="0"/>
              </a:rPr>
              <a:t>Bashorat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natijalarini</a:t>
            </a:r>
            <a:r>
              <a:rPr lang="en-US" dirty="0" smtClean="0">
                <a:latin typeface="Algerian" panose="04020705040A02060702" pitchFamily="82" charset="0"/>
              </a:rPr>
              <a:t> real </a:t>
            </a:r>
            <a:r>
              <a:rPr lang="en-US" dirty="0" err="1" smtClean="0">
                <a:latin typeface="Algerian" panose="04020705040A02060702" pitchFamily="82" charset="0"/>
              </a:rPr>
              <a:t>baholar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bilan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solishtirish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jarayoni</a:t>
            </a:r>
            <a:r>
              <a:rPr lang="en-US" dirty="0" smtClean="0">
                <a:latin typeface="Algerian" panose="04020705040A02060702" pitchFamily="82" charset="0"/>
              </a:rPr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384175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Algerian" panose="04020705040A02060702" pitchFamily="82" charset="0"/>
              </a:rPr>
              <a:t>Lineer Regressiya: Matematik optimizatsiya (OLS)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dirty="0" smtClean="0">
                <a:latin typeface="Algerian" panose="04020705040A02060702" pitchFamily="82" charset="0"/>
              </a:rPr>
              <a:t>• Formula: Final = (AI*w1 + DT*w2 + KB*w3 + KI*w4 + ES*w5) + b</a:t>
            </a:r>
          </a:p>
          <a:p>
            <a:pPr>
              <a:lnSpc>
                <a:spcPct val="200000"/>
              </a:lnSpc>
            </a:pPr>
            <a:r>
              <a:rPr lang="en-US" dirty="0" smtClean="0">
                <a:latin typeface="Algerian" panose="04020705040A02060702" pitchFamily="82" charset="0"/>
              </a:rPr>
              <a:t>• Ordinary Least Squares (OLS) </a:t>
            </a:r>
            <a:r>
              <a:rPr lang="en-US" dirty="0" err="1" smtClean="0">
                <a:latin typeface="Algerian" panose="04020705040A02060702" pitchFamily="82" charset="0"/>
              </a:rPr>
              <a:t>orqali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xatoliklarni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minimallashtirish</a:t>
            </a:r>
            <a:r>
              <a:rPr lang="en-US" dirty="0" smtClean="0">
                <a:latin typeface="Algerian" panose="04020705040A02060702" pitchFamily="82" charset="0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dirty="0" smtClean="0">
                <a:latin typeface="Algerian" panose="04020705040A02060702" pitchFamily="82" charset="0"/>
              </a:rPr>
              <a:t>• </a:t>
            </a:r>
            <a:r>
              <a:rPr lang="en-US" dirty="0" err="1" smtClean="0">
                <a:latin typeface="Algerian" panose="04020705040A02060702" pitchFamily="82" charset="0"/>
              </a:rPr>
              <a:t>Har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bir</a:t>
            </a:r>
            <a:r>
              <a:rPr lang="en-US" dirty="0" smtClean="0">
                <a:latin typeface="Algerian" panose="04020705040A02060702" pitchFamily="82" charset="0"/>
              </a:rPr>
              <a:t> fan </a:t>
            </a:r>
            <a:r>
              <a:rPr lang="en-US" dirty="0" err="1" smtClean="0">
                <a:latin typeface="Algerian" panose="04020705040A02060702" pitchFamily="82" charset="0"/>
              </a:rPr>
              <a:t>uchun</a:t>
            </a:r>
            <a:r>
              <a:rPr lang="en-US" dirty="0" smtClean="0">
                <a:latin typeface="Algerian" panose="04020705040A02060702" pitchFamily="82" charset="0"/>
              </a:rPr>
              <a:t> model </a:t>
            </a:r>
            <a:r>
              <a:rPr lang="en-US" dirty="0" err="1" smtClean="0">
                <a:latin typeface="Algerian" panose="04020705040A02060702" pitchFamily="82" charset="0"/>
              </a:rPr>
              <a:t>tomonidan</a:t>
            </a:r>
            <a:r>
              <a:rPr lang="en-US" dirty="0" smtClean="0">
                <a:latin typeface="Algerian" panose="04020705040A02060702" pitchFamily="82" charset="0"/>
              </a:rPr>
              <a:t> optimal </a:t>
            </a:r>
            <a:r>
              <a:rPr lang="en-US" dirty="0" err="1" smtClean="0">
                <a:latin typeface="Algerian" panose="04020705040A02060702" pitchFamily="82" charset="0"/>
              </a:rPr>
              <a:t>vaznlar</a:t>
            </a:r>
            <a:r>
              <a:rPr lang="en-US" dirty="0" smtClean="0">
                <a:latin typeface="Algerian" panose="04020705040A02060702" pitchFamily="82" charset="0"/>
              </a:rPr>
              <a:t> (Weights) </a:t>
            </a:r>
            <a:r>
              <a:rPr lang="en-US" dirty="0" err="1" smtClean="0">
                <a:latin typeface="Algerian" panose="04020705040A02060702" pitchFamily="82" charset="0"/>
              </a:rPr>
              <a:t>tanlanishi</a:t>
            </a:r>
            <a:r>
              <a:rPr lang="en-US" dirty="0" smtClean="0">
                <a:latin typeface="Algerian" panose="04020705040A02060702" pitchFamily="82" charset="0"/>
              </a:rPr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07027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Algerian" panose="04020705040A02060702" pitchFamily="82" charset="0"/>
              </a:rPr>
              <a:t>Bashoratlash aniqligi: MAE va MSE tahlili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dirty="0" smtClean="0">
                <a:latin typeface="Algerian" panose="04020705040A02060702" pitchFamily="82" charset="0"/>
              </a:rPr>
              <a:t>• Mean Absolute Error (MAE): </a:t>
            </a:r>
            <a:r>
              <a:rPr lang="en-US" dirty="0" err="1" smtClean="0">
                <a:latin typeface="Algerian" panose="04020705040A02060702" pitchFamily="82" charset="0"/>
              </a:rPr>
              <a:t>Bashoratning</a:t>
            </a:r>
            <a:r>
              <a:rPr lang="en-US" dirty="0" smtClean="0">
                <a:latin typeface="Algerian" panose="04020705040A02060702" pitchFamily="82" charset="0"/>
              </a:rPr>
              <a:t> real </a:t>
            </a:r>
            <a:r>
              <a:rPr lang="en-US" dirty="0" err="1" smtClean="0">
                <a:latin typeface="Algerian" panose="04020705040A02060702" pitchFamily="82" charset="0"/>
              </a:rPr>
              <a:t>bahodan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o'rtacha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og'ishi</a:t>
            </a:r>
            <a:r>
              <a:rPr lang="en-US" dirty="0" smtClean="0">
                <a:latin typeface="Algerian" panose="04020705040A02060702" pitchFamily="82" charset="0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dirty="0" smtClean="0">
                <a:latin typeface="Algerian" panose="04020705040A02060702" pitchFamily="82" charset="0"/>
              </a:rPr>
              <a:t>• Mean Squared Error (MSE): </a:t>
            </a:r>
            <a:r>
              <a:rPr lang="en-US" dirty="0" err="1" smtClean="0">
                <a:latin typeface="Algerian" panose="04020705040A02060702" pitchFamily="82" charset="0"/>
              </a:rPr>
              <a:t>Xatoliklar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kvadratining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o'rtachasi</a:t>
            </a:r>
            <a:r>
              <a:rPr lang="en-US" dirty="0" smtClean="0">
                <a:latin typeface="Algerian" panose="04020705040A02060702" pitchFamily="82" charset="0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dirty="0" smtClean="0">
                <a:latin typeface="Algerian" panose="04020705040A02060702" pitchFamily="82" charset="0"/>
              </a:rPr>
              <a:t>• Past </a:t>
            </a:r>
            <a:r>
              <a:rPr lang="en-US" dirty="0" err="1" smtClean="0">
                <a:latin typeface="Algerian" panose="04020705040A02060702" pitchFamily="82" charset="0"/>
              </a:rPr>
              <a:t>xatolik</a:t>
            </a:r>
            <a:r>
              <a:rPr lang="en-US" dirty="0" smtClean="0">
                <a:latin typeface="Algerian" panose="04020705040A02060702" pitchFamily="82" charset="0"/>
              </a:rPr>
              <a:t> - </a:t>
            </a:r>
            <a:r>
              <a:rPr lang="en-US" dirty="0" err="1" smtClean="0">
                <a:latin typeface="Algerian" panose="04020705040A02060702" pitchFamily="82" charset="0"/>
              </a:rPr>
              <a:t>modelning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yuqori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bashoratlash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qobiliyati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belgisi</a:t>
            </a:r>
            <a:r>
              <a:rPr lang="en-US" dirty="0" smtClean="0">
                <a:latin typeface="Algerian" panose="04020705040A02060702" pitchFamily="82" charset="0"/>
              </a:rPr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5386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Algerian" panose="04020705040A02060702" pitchFamily="82" charset="0"/>
              </a:rPr>
              <a:t>R-Squared (R2): Modelning ishonchlilik koeffitsiyenti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dirty="0" smtClean="0">
                <a:latin typeface="Algerian" panose="04020705040A02060702" pitchFamily="82" charset="0"/>
              </a:rPr>
              <a:t>• Rº Score: Model </a:t>
            </a:r>
            <a:r>
              <a:rPr lang="en-US" dirty="0" err="1" smtClean="0">
                <a:latin typeface="Algerian" panose="04020705040A02060702" pitchFamily="82" charset="0"/>
              </a:rPr>
              <a:t>ma'lumotlar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dispersiyasini</a:t>
            </a:r>
            <a:r>
              <a:rPr lang="en-US" dirty="0" smtClean="0">
                <a:latin typeface="Algerian" panose="04020705040A02060702" pitchFamily="82" charset="0"/>
              </a:rPr>
              <a:t> 99% </a:t>
            </a:r>
            <a:r>
              <a:rPr lang="en-US" dirty="0" err="1" smtClean="0">
                <a:latin typeface="Algerian" panose="04020705040A02060702" pitchFamily="82" charset="0"/>
              </a:rPr>
              <a:t>darajada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tushuntiradi</a:t>
            </a:r>
            <a:r>
              <a:rPr lang="en-US" dirty="0" smtClean="0">
                <a:latin typeface="Algerian" panose="04020705040A02060702" pitchFamily="82" charset="0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dirty="0" smtClean="0">
                <a:latin typeface="Algerian" panose="04020705040A02060702" pitchFamily="82" charset="0"/>
              </a:rPr>
              <a:t>• </a:t>
            </a:r>
            <a:r>
              <a:rPr lang="en-US" dirty="0" err="1" smtClean="0">
                <a:latin typeface="Algerian" panose="04020705040A02060702" pitchFamily="82" charset="0"/>
              </a:rPr>
              <a:t>Statistik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ishonchlilik</a:t>
            </a:r>
            <a:r>
              <a:rPr lang="en-US" dirty="0" smtClean="0">
                <a:latin typeface="Algerian" panose="04020705040A02060702" pitchFamily="82" charset="0"/>
              </a:rPr>
              <a:t>: P-</a:t>
            </a:r>
            <a:r>
              <a:rPr lang="en-US" dirty="0" err="1" smtClean="0">
                <a:latin typeface="Algerian" panose="04020705040A02060702" pitchFamily="82" charset="0"/>
              </a:rPr>
              <a:t>qiymatlari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va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koeffitsiyentlar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tahlili</a:t>
            </a:r>
            <a:r>
              <a:rPr lang="en-US" dirty="0" smtClean="0">
                <a:latin typeface="Algerian" panose="04020705040A02060702" pitchFamily="82" charset="0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dirty="0" smtClean="0">
                <a:latin typeface="Algerian" panose="04020705040A02060702" pitchFamily="82" charset="0"/>
              </a:rPr>
              <a:t>• </a:t>
            </a:r>
            <a:r>
              <a:rPr lang="en-US" dirty="0" err="1" smtClean="0">
                <a:latin typeface="Algerian" panose="04020705040A02060702" pitchFamily="82" charset="0"/>
              </a:rPr>
              <a:t>Modelning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yangi</a:t>
            </a:r>
            <a:r>
              <a:rPr lang="en-US" dirty="0" smtClean="0">
                <a:latin typeface="Algerian" panose="04020705040A02060702" pitchFamily="82" charset="0"/>
              </a:rPr>
              <a:t> (test) </a:t>
            </a:r>
            <a:r>
              <a:rPr lang="en-US" dirty="0" err="1" smtClean="0">
                <a:latin typeface="Algerian" panose="04020705040A02060702" pitchFamily="82" charset="0"/>
              </a:rPr>
              <a:t>ma'lumotlarda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o'zini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oqlashi</a:t>
            </a:r>
            <a:r>
              <a:rPr lang="en-US" dirty="0" smtClean="0">
                <a:latin typeface="Algerian" panose="04020705040A02060702" pitchFamily="82" charset="0"/>
              </a:rPr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589901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Algerian" panose="04020705040A02060702" pitchFamily="82" charset="0"/>
              </a:rPr>
              <a:t>Model cheklovlari: Tasodifiy shovqin (e) tahlili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250000"/>
              </a:lnSpc>
            </a:pPr>
            <a:r>
              <a:rPr lang="en-US" dirty="0" smtClean="0">
                <a:latin typeface="Algerian" panose="04020705040A02060702" pitchFamily="82" charset="0"/>
              </a:rPr>
              <a:t>• </a:t>
            </a:r>
            <a:r>
              <a:rPr lang="en-US" dirty="0" err="1" smtClean="0">
                <a:latin typeface="Algerian" panose="04020705040A02060702" pitchFamily="82" charset="0"/>
              </a:rPr>
              <a:t>Tasodifiy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faktorlar</a:t>
            </a:r>
            <a:r>
              <a:rPr lang="en-US" dirty="0" smtClean="0">
                <a:latin typeface="Algerian" panose="04020705040A02060702" pitchFamily="82" charset="0"/>
              </a:rPr>
              <a:t> (e): </a:t>
            </a:r>
            <a:r>
              <a:rPr lang="en-US" dirty="0" err="1" smtClean="0">
                <a:latin typeface="Algerian" panose="04020705040A02060702" pitchFamily="82" charset="0"/>
              </a:rPr>
              <a:t>Talabaning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psixologik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holati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va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kutilmagan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omillar</a:t>
            </a:r>
            <a:r>
              <a:rPr lang="en-US" dirty="0" smtClean="0">
                <a:latin typeface="Algerian" panose="04020705040A02060702" pitchFamily="82" charset="0"/>
              </a:rPr>
              <a:t>.</a:t>
            </a:r>
          </a:p>
          <a:p>
            <a:pPr>
              <a:lnSpc>
                <a:spcPct val="250000"/>
              </a:lnSpc>
            </a:pPr>
            <a:r>
              <a:rPr lang="en-US" dirty="0" smtClean="0">
                <a:latin typeface="Algerian" panose="04020705040A02060702" pitchFamily="82" charset="0"/>
              </a:rPr>
              <a:t>• </a:t>
            </a:r>
            <a:r>
              <a:rPr lang="en-US" dirty="0" err="1" smtClean="0">
                <a:latin typeface="Algerian" panose="04020705040A02060702" pitchFamily="82" charset="0"/>
              </a:rPr>
              <a:t>Ma'lumotlar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hajmining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cheklanganligi</a:t>
            </a:r>
            <a:r>
              <a:rPr lang="en-US" dirty="0" smtClean="0">
                <a:latin typeface="Algerian" panose="04020705040A02060702" pitchFamily="82" charset="0"/>
              </a:rPr>
              <a:t> (n=100).</a:t>
            </a:r>
          </a:p>
          <a:p>
            <a:pPr>
              <a:lnSpc>
                <a:spcPct val="250000"/>
              </a:lnSpc>
            </a:pPr>
            <a:r>
              <a:rPr lang="en-US" dirty="0" smtClean="0">
                <a:latin typeface="Algerian" panose="04020705040A02060702" pitchFamily="82" charset="0"/>
              </a:rPr>
              <a:t>• </a:t>
            </a:r>
            <a:r>
              <a:rPr lang="en-US" dirty="0" err="1" smtClean="0">
                <a:latin typeface="Algerian" panose="04020705040A02060702" pitchFamily="82" charset="0"/>
              </a:rPr>
              <a:t>Chiziqli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bo'lmagan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korrelyatsiyalarda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yuzaga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keladigan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og'ishlar</a:t>
            </a:r>
            <a:r>
              <a:rPr lang="en-US" dirty="0" smtClean="0">
                <a:latin typeface="Algerian" panose="04020705040A02060702" pitchFamily="82" charset="0"/>
              </a:rPr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041116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Algerian" panose="04020705040A02060702" pitchFamily="82" charset="0"/>
              </a:rPr>
              <a:t>Tizimni takomillashtirish: Kelgusi algoritmlar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dirty="0" smtClean="0">
                <a:latin typeface="Algerian" panose="04020705040A02060702" pitchFamily="82" charset="0"/>
              </a:rPr>
              <a:t>• Random Forest </a:t>
            </a:r>
            <a:r>
              <a:rPr lang="en-US" dirty="0" err="1" smtClean="0">
                <a:latin typeface="Algerian" panose="04020705040A02060702" pitchFamily="82" charset="0"/>
              </a:rPr>
              <a:t>va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XGBoost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algoritmlarini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integratsiya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qilish</a:t>
            </a:r>
            <a:r>
              <a:rPr lang="en-US" dirty="0" smtClean="0">
                <a:latin typeface="Algerian" panose="04020705040A02060702" pitchFamily="82" charset="0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dirty="0" smtClean="0">
                <a:latin typeface="Algerian" panose="04020705040A02060702" pitchFamily="82" charset="0"/>
              </a:rPr>
              <a:t>• Feature Engineering: </a:t>
            </a:r>
            <a:r>
              <a:rPr lang="en-US" dirty="0" err="1" smtClean="0">
                <a:latin typeface="Algerian" panose="04020705040A02060702" pitchFamily="82" charset="0"/>
              </a:rPr>
              <a:t>Talabaning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kognitiv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va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davomat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ko'rsatkichlarini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qo'shish</a:t>
            </a:r>
            <a:r>
              <a:rPr lang="en-US" dirty="0" smtClean="0">
                <a:latin typeface="Algerian" panose="04020705040A02060702" pitchFamily="82" charset="0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dirty="0" smtClean="0">
                <a:latin typeface="Algerian" panose="04020705040A02060702" pitchFamily="82" charset="0"/>
              </a:rPr>
              <a:t>• DGU (</a:t>
            </a:r>
            <a:r>
              <a:rPr lang="en-US" dirty="0" err="1" smtClean="0">
                <a:latin typeface="Algerian" panose="04020705040A02060702" pitchFamily="82" charset="0"/>
              </a:rPr>
              <a:t>Guvohnoma</a:t>
            </a:r>
            <a:r>
              <a:rPr lang="en-US" dirty="0" smtClean="0">
                <a:latin typeface="Algerian" panose="04020705040A02060702" pitchFamily="82" charset="0"/>
              </a:rPr>
              <a:t>) </a:t>
            </a:r>
            <a:r>
              <a:rPr lang="en-US" dirty="0" err="1" smtClean="0">
                <a:latin typeface="Algerian" panose="04020705040A02060702" pitchFamily="82" charset="0"/>
              </a:rPr>
              <a:t>olish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va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tizimni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keng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ko'lamda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qo'llash</a:t>
            </a:r>
            <a:r>
              <a:rPr lang="en-US" dirty="0" smtClean="0">
                <a:latin typeface="Algerian" panose="04020705040A02060702" pitchFamily="82" charset="0"/>
              </a:rPr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39917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Algerian" panose="04020705040A02060702" pitchFamily="82" charset="0"/>
              </a:rPr>
              <a:t>Xulosa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va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Yakuniy</a:t>
            </a:r>
            <a:r>
              <a:rPr lang="en-US" dirty="0" smtClean="0">
                <a:latin typeface="Algerian" panose="04020705040A02060702" pitchFamily="82" charset="0"/>
              </a:rPr>
              <a:t> Demo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Algerian" panose="04020705040A02060702" pitchFamily="82" charset="0"/>
              </a:rPr>
              <a:t>• </a:t>
            </a:r>
            <a:r>
              <a:rPr lang="en-US" dirty="0" err="1" smtClean="0">
                <a:latin typeface="Algerian" panose="04020705040A02060702" pitchFamily="82" charset="0"/>
              </a:rPr>
              <a:t>GradeAI</a:t>
            </a:r>
            <a:r>
              <a:rPr lang="en-US" dirty="0" smtClean="0">
                <a:latin typeface="Algerian" panose="04020705040A02060702" pitchFamily="82" charset="0"/>
              </a:rPr>
              <a:t> - </a:t>
            </a:r>
            <a:r>
              <a:rPr lang="en-US" dirty="0" err="1" smtClean="0">
                <a:latin typeface="Algerian" panose="04020705040A02060702" pitchFamily="82" charset="0"/>
              </a:rPr>
              <a:t>yakuniy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bahoni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bashorat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qilishning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zamonaviy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yechimi</a:t>
            </a:r>
            <a:r>
              <a:rPr lang="en-US" dirty="0" smtClean="0">
                <a:latin typeface="Algerian" panose="04020705040A02060702" pitchFamily="82" charset="0"/>
              </a:rPr>
              <a:t>.</a:t>
            </a:r>
          </a:p>
          <a:p>
            <a:r>
              <a:rPr lang="en-US" dirty="0" smtClean="0">
                <a:latin typeface="Algerian" panose="04020705040A02060702" pitchFamily="82" charset="0"/>
              </a:rPr>
              <a:t>• Demo: </a:t>
            </a:r>
            <a:r>
              <a:rPr lang="en-US" dirty="0" err="1" smtClean="0">
                <a:latin typeface="Algerian" panose="04020705040A02060702" pitchFamily="82" charset="0"/>
              </a:rPr>
              <a:t>Veb-platformada</a:t>
            </a:r>
            <a:r>
              <a:rPr lang="en-US" dirty="0" smtClean="0">
                <a:latin typeface="Algerian" panose="04020705040A02060702" pitchFamily="82" charset="0"/>
              </a:rPr>
              <a:t> real </a:t>
            </a:r>
            <a:r>
              <a:rPr lang="en-US" dirty="0" err="1" smtClean="0">
                <a:latin typeface="Algerian" panose="04020705040A02060702" pitchFamily="82" charset="0"/>
              </a:rPr>
              <a:t>vaqt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rejimida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bashoratlash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jarayoni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endParaRPr lang="en-US" dirty="0" smtClean="0"/>
          </a:p>
          <a:p>
            <a:pPr algn="ctr"/>
            <a:r>
              <a:rPr lang="en-US" sz="3200" b="1" dirty="0" err="1" smtClean="0">
                <a:latin typeface="Algerian" panose="04020705040A02060702" pitchFamily="82" charset="0"/>
              </a:rPr>
              <a:t>E'tiboringiz</a:t>
            </a:r>
            <a:r>
              <a:rPr lang="en-US" sz="3200" b="1" dirty="0" smtClean="0">
                <a:latin typeface="Algerian" panose="04020705040A02060702" pitchFamily="82" charset="0"/>
              </a:rPr>
              <a:t> </a:t>
            </a:r>
            <a:r>
              <a:rPr lang="en-US" sz="3200" b="1" dirty="0" err="1" smtClean="0">
                <a:latin typeface="Algerian" panose="04020705040A02060702" pitchFamily="82" charset="0"/>
              </a:rPr>
              <a:t>uchun</a:t>
            </a:r>
            <a:r>
              <a:rPr lang="en-US" sz="3200" b="1" dirty="0" smtClean="0">
                <a:latin typeface="Algerian" panose="04020705040A02060702" pitchFamily="82" charset="0"/>
              </a:rPr>
              <a:t> </a:t>
            </a:r>
            <a:r>
              <a:rPr lang="en-US" sz="3200" b="1" dirty="0" err="1" smtClean="0">
                <a:latin typeface="Algerian" panose="04020705040A02060702" pitchFamily="82" charset="0"/>
              </a:rPr>
              <a:t>rahmat</a:t>
            </a:r>
            <a:r>
              <a:rPr lang="en-US" sz="3200" b="1" dirty="0" smtClean="0">
                <a:latin typeface="Algerian" panose="04020705040A02060702" pitchFamily="82" charset="0"/>
              </a:rPr>
              <a:t>!</a:t>
            </a:r>
            <a:endParaRPr lang="ru-RU" sz="3200" b="1" dirty="0"/>
          </a:p>
        </p:txBody>
      </p:sp>
    </p:spTree>
    <p:extLst>
      <p:ext uri="{BB962C8B-B14F-4D97-AF65-F5344CB8AC3E}">
        <p14:creationId xmlns:p14="http://schemas.microsoft.com/office/powerpoint/2010/main" val="145039803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Ион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И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20</TotalTime>
  <Words>485</Words>
  <Application>Microsoft Office PowerPoint</Application>
  <PresentationFormat>Широкоэкранный</PresentationFormat>
  <Paragraphs>58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Algerian</vt:lpstr>
      <vt:lpstr>Arial</vt:lpstr>
      <vt:lpstr>Century Gothic</vt:lpstr>
      <vt:lpstr>Wingdings 3</vt:lpstr>
      <vt:lpstr>Ион</vt:lpstr>
      <vt:lpstr>Grade AI: Talabalar yakuniy bahosini bashorat qilish tizimi</vt:lpstr>
      <vt:lpstr>Loyiha konsepsiyasi va intellektual tahlil</vt:lpstr>
      <vt:lpstr>Data-Driven yondashuv: Nega aynan regressiya modeli?</vt:lpstr>
      <vt:lpstr>Fanlararo bog'liqlik va vaznlar (Feature Weights Analysis)</vt:lpstr>
      <vt:lpstr>Ma'lumotlar preprocessingi (Data Cleaning jarayoni)</vt:lpstr>
      <vt:lpstr>Modelni o‘qitish: Supervised Learning strategiyasi</vt:lpstr>
      <vt:lpstr>Lineer Regressiya: Matematik optimizatsiya (OLS)</vt:lpstr>
      <vt:lpstr>Bashoratlash aniqligi: MAE va MSE tahlili</vt:lpstr>
      <vt:lpstr>R-Squared (R2): Modelning ishonchlilik koeffitsiyenti</vt:lpstr>
      <vt:lpstr>Model cheklovlari: Tasodifiy shovqin (e) tahlili</vt:lpstr>
      <vt:lpstr>Tizimni takomillashtirish: Kelgusi algoritmlar</vt:lpstr>
      <vt:lpstr>Xulosa va Yakuniy 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GradeAI: Talabalar yakuniy bahosini bashorat qilish tizimi</dc:title>
  <dc:creator>user</dc:creator>
  <cp:lastModifiedBy>user</cp:lastModifiedBy>
  <cp:revision>3</cp:revision>
  <dcterms:created xsi:type="dcterms:W3CDTF">2026-04-02T19:02:33Z</dcterms:created>
  <dcterms:modified xsi:type="dcterms:W3CDTF">2026-04-02T19:23:33Z</dcterms:modified>
</cp:coreProperties>
</file>